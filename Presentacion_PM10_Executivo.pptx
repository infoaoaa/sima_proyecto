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8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87168"/>
            <a:ext cx="4754880" cy="411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463040" cy="3849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Predicción Operativa de PM10 en la Zona Metropolitana de Monterrey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BCCEE8"/>
                </a:solidFill>
                <a:latin typeface="Calibri"/>
              </a:rPr>
              <a:t>Selección multivariada de estaciones y modelado SARIMAX con factores exógenos para alerta temprana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MA2003B Análisis Multivariado · Campus Monterrey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Angel Galindo · Jorge Martínez · Roberto Pérez · Alejandro Torres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8B8D4"/>
                </a:solidFill>
                <a:latin typeface="Calibri"/>
              </a:rPr>
              <a:t>Profesores: Blanca Rosa Ruiz Hernández · Raúl Gómez Muñoz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El desafío: anticipar la calidad del aire, no solo medirla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Contexto y motivación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76656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El PM10 (partículas &lt; 10 µm) es el contaminante que con mayor frecuencia dispara contingencias ambientales en la ZMM; la norma NOM-025-SSA1 regula su exposición.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La ZMM cuenta con 15 estaciones del SIMA con datos horarios 2020–2025, pero muchas se comportan de forma muy distinta.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Decidir requiere anticipación: la meteorología pierde predictibilidad más allá de ~2 semanas.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2E74B5"/>
                </a:solidFill>
                <a:latin typeface="Calibri"/>
              </a:rPr>
              <a:t>•  Propuesta: un sistema de alerta temprana de corto plazo (días a horas) basado en modelos estadísticos multivariados.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371600"/>
            <a:ext cx="402336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4023360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72768"/>
            <a:ext cx="3749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E74B5"/>
                </a:solidFill>
                <a:latin typeface="Calibri"/>
              </a:rPr>
              <a:t>62.5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31720"/>
            <a:ext cx="3749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Calibri"/>
              </a:rPr>
              <a:t>PM10 promedio diario en la ZMM (µg/m³) · máx. 380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3017520"/>
            <a:ext cx="402336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3017520"/>
            <a:ext cx="4023360" cy="731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218688"/>
            <a:ext cx="3749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C00000"/>
                </a:solidFill>
                <a:latin typeface="Calibri"/>
              </a:rPr>
              <a:t>150+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977640"/>
            <a:ext cx="3749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Calibri"/>
              </a:rPr>
              <a:t>µg/m³ en picos invernales por inversión térmica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4663440"/>
            <a:ext cx="402336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4663440"/>
            <a:ext cx="4023360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864608"/>
            <a:ext cx="3749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B8860B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623560"/>
            <a:ext cx="3749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Calibri"/>
              </a:rPr>
              <a:t>estaciones seleccionadas para el modelo de alerta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Pregunta de investigación y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¿Qué se quiere responder?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201400" cy="13716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73152" cy="13716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8860B"/>
                </a:solidFill>
                <a:latin typeface="Calibri"/>
              </a:rPr>
              <a:t>Pregunta de investigación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62626"/>
                </a:solidFill>
                <a:latin typeface="Calibri"/>
              </a:rPr>
              <a:t>¿Cómo influyen las condiciones meteorológicas y los gases precursores en la variabilidad del PM10 en la ZMM, y cómo optimizar la selección de estaciones con distancia multivariada para construir modelos autorregresivos que anticipen contingencias?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11201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Desarrollar y validar un marco predictivo multivariado que pronostique el PM10 en tres estaciones pivote de la ZMM (SE3, NO2, NE3).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11201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Objetivos específicos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11201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Consolidar y depurar los datos 2020–2025 con criterios normativos (NOM-025).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Seleccionar 3 estaciones representativas con Distancia de Mahalanobis.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Reducir multicolinealidad con Análisis Factorial (factores ortogonales).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Construir y validar SARIMAX horario con holdout de 7 horas: MAE, RMSE, MAPE y análisis de residuos.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Ruta metodológica: un flujo integrado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Proceso del proyecto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11880" cy="178308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82296" cy="17830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4592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E74B5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76272"/>
            <a:ext cx="3200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62626"/>
                </a:solidFill>
                <a:latin typeface="Calibri"/>
              </a:rPr>
              <a:t>Consolidación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786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Excel 2020–2025 por estación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11880" cy="178308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82296" cy="17830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2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E74B5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176272"/>
            <a:ext cx="3200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62626"/>
                </a:solidFill>
                <a:latin typeface="Calibri"/>
              </a:rPr>
              <a:t>Control de calidad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786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NOM-025: días ≥ 18 h · corrige anomalías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611880" cy="178308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82296" cy="17830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64592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E74B5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176272"/>
            <a:ext cx="3200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62626"/>
                </a:solidFill>
                <a:latin typeface="Calibri"/>
              </a:rPr>
              <a:t>Imputación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5786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Interpolación en huecos &lt; 3 h por estación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94760"/>
            <a:ext cx="3611880" cy="178308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82296" cy="1783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97764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507992"/>
            <a:ext cx="3200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62626"/>
                </a:solidFill>
                <a:latin typeface="Calibri"/>
              </a:rPr>
              <a:t>Selección espacial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91032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Distancia de Mahalanobis → SE3, NO2, NE3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794760"/>
            <a:ext cx="3611880" cy="178308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794760"/>
            <a:ext cx="82296" cy="1783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97764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507992"/>
            <a:ext cx="3200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62626"/>
                </a:solidFill>
                <a:latin typeface="Calibri"/>
              </a:rPr>
              <a:t>Análisis factorial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91032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Factores ortogonales: combustión, fotoquím., humedad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794760"/>
            <a:ext cx="3611880" cy="178308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794760"/>
            <a:ext cx="82296" cy="1783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2" y="397764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4507992"/>
            <a:ext cx="3200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62626"/>
                </a:solidFill>
                <a:latin typeface="Calibri"/>
              </a:rPr>
              <a:t>SARIMAX + validación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491032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Holdout 7 h · residuos · pesos (betas)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33088" y="2354580.0"/>
            <a:ext cx="182880" cy="0.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27848" y="2354580.0"/>
            <a:ext cx="182880" cy="0.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133088" y="4686300.0"/>
            <a:ext cx="182880" cy="0.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27848" y="4686300.0"/>
            <a:ext cx="182880" cy="0.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Datos: de sensores a series confiables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Control de calidad 2020–2025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50" b="0">
                <a:solidFill>
                  <a:srgbClr val="262626"/>
                </a:solidFill>
                <a:latin typeface="Calibri"/>
              </a:rPr>
              <a:t>•  31,449 registros diarios · 15 estaciones · 18 columnas (contaminantes y meteorología).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50" b="0">
                <a:solidFill>
                  <a:srgbClr val="262626"/>
                </a:solidFill>
                <a:latin typeface="Calibri"/>
              </a:rPr>
              <a:t>•  Regla normativa NOM-025: solo se validan días con ≥ 18 horas registradas (75%).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50" b="0">
                <a:solidFill>
                  <a:srgbClr val="262626"/>
                </a:solidFill>
                <a:latin typeface="Calibri"/>
              </a:rPr>
              <a:t>•  Anomalías de sensor corregidas a límites físicos y con arrastre (forward fill) por estación.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50" b="0">
                <a:solidFill>
                  <a:srgbClr val="262626"/>
                </a:solidFill>
                <a:latin typeface="Calibri"/>
              </a:rPr>
              <a:t>•  Imputación con interpolación lineal solo en huecos &lt; 3 h, sin mezclar comportamientos entre estaciones.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2E74B5"/>
                </a:solidFill>
                <a:latin typeface="Calibri"/>
              </a:rPr>
              <a:t>•  Resultado: 2,192 días continuos por estación y series estables para modelar.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371600"/>
          <a:ext cx="448056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600200"/>
                <a:gridCol w="16459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 anómalo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Corrección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TOUT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-57.8 °C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rango [-5, 45] °C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WSR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158 km/h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máx. 80 km/h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Horas/día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&lt; 18 h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día descartado (NOM-025)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Selección de estaciones: Distancia de Mahalanobis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De 15 estaciones a 3 pivotes representativos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583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50" b="0">
                <a:solidFill>
                  <a:srgbClr val="262626"/>
                </a:solidFill>
                <a:latin typeface="Calibri"/>
              </a:rPr>
              <a:t>•  El clustering forzaba promedios artificiales: cada estación reacciona de manera distinta.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50" b="0">
                <a:solidFill>
                  <a:srgbClr val="262626"/>
                </a:solidFill>
                <a:latin typeface="Calibri"/>
              </a:rPr>
              <a:t>•  Se usa Distancia de Mahalanobis entre estaciones (medias y covarianza agrupada) para maximizar la separación espacial.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2E74B5"/>
                </a:solidFill>
                <a:latin typeface="Calibri"/>
              </a:rPr>
              <a:t>•  Resultado: triplete más contrastante con separación combinada de 19.98.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50" b="0">
                <a:solidFill>
                  <a:srgbClr val="262626"/>
                </a:solidFill>
                <a:latin typeface="Calibri"/>
              </a:rPr>
              <a:t>•  Beneficio: cobertura geográfica de comportamientos extremos sin redundancia entre sensores.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389120" cy="393192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5544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Pares más distantes (matriz D-M)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43800" y="1965960"/>
          <a:ext cx="3931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 (matriz D-M)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Distancia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NO2 – SE3 (extremos)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9.23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NE3 – NO2 (extremos)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8.74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NO2 – SO (cuasi réplica)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1.12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Separación combinada trío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19.98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43800" y="4206240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B8860B"/>
                </a:solidFill>
                <a:latin typeface="Calibri"/>
              </a:rPr>
              <a:t>Seleccionadas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SE3 (Cadereyta) · NO2 (García) · NE3 (Pesquería)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El PM10 responde a la atmósfera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Hallazgos del análisis exploratorio</a:t>
            </a:r>
          </a:p>
        </p:txBody>
      </p:sp>
      <p:pic>
        <p:nvPicPr>
          <p:cNvPr id="6" name="Picture 5" descr="Figura_1_Estacion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3192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Estacionalidad en forma de “U” en el ciclo anual</a:t>
            </a:r>
          </a:p>
        </p:txBody>
      </p:sp>
      <p:pic>
        <p:nvPicPr>
          <p:cNvPr id="8" name="Picture 7" descr="Figura_2_Corre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365760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39319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Matriz de correlación PM10 –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34840"/>
            <a:ext cx="112471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Inversión térmica: los picos de PM10 concentran en invierno (nov–mar) y se dilatan en verano.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Lavado atmosférico: la humedad relativa (r = −0.41) limpia el aire; la temperatura absoluta no (r ≈ 0).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Viento de doble cara: dispersa a velocidad moderada, pero las ráfagas extremas resuspenden partículas.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Análisis Factorial Exploratorio (AFE)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De 9–12 variables correlacionadas a 2–3 factores ortogonales</a:t>
            </a:r>
          </a:p>
        </p:txBody>
      </p:sp>
      <p:pic>
        <p:nvPicPr>
          <p:cNvPr id="6" name="Picture 5" descr="factor_analysis_NO2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5875"/>
            <a:ext cx="4663440" cy="2914650"/>
          </a:xfrm>
          <a:prstGeom prst="rect">
            <a:avLst/>
          </a:prstGeom>
        </p:spPr>
      </p:pic>
      <p:pic>
        <p:nvPicPr>
          <p:cNvPr id="7" name="Picture 6" descr="factor_analysis_NO2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06" y="4160520"/>
            <a:ext cx="4214107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0" y="1280160"/>
            <a:ext cx="62636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Problema: contaminantes y meteorología correlacionan de forma severa (multicolinealidad) y desestabilizan el modelo predictivo.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Selección iterativa por KMO: se descartan variables con bajo aporte (PRS, SR, RH según estación).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Extracción por ejes principales + rotación Varimax; 2–3 factores con autovalor &gt; 1.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Puntuaciones factoriales ortogonales (r = 0): cada factor aísla un proceso físico del aire.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2E74B5"/>
                </a:solidFill>
                <a:latin typeface="Calibri"/>
              </a:rPr>
              <a:t>•  Interpretación: Combustión (CO, NO, NO2, SO2, PM2.5), Fotoquímico (O3, SR, viento) y Humedad/Temperatura (RH, TOUT).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Modelo predictivo: SARIMAX con factores exógenos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Técnica de series de tiempo (ma breve explicación)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201400" cy="86868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98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SARIMAX = ARIMA estacional + regresores exógenos: modela a la vez la dinámica temporal propia del PM10 y la contribución simultánea de cada factor.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11201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Box-Jenkins sobre la serie horaria: orden (p,d,q) × (P,D,Q,s) con s = 24 horas, elegido por búsqueda en grilla sobre AIC.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•  Combinaciones óptimas: NE3 (2,1,0) · NO2 (2,0,2) · SE3 (2,0,2), estacional (0,1,1,24).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Transformación Yeo-Johnson en PM10 previa al ajuste: estabiliza la varianza y reduce la asimetría de los picos (facilita la validación de residuos).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Validación: holdout de las últimas 7 horas; se reporta MAE, RMSE y MAPE en µg/m³ (escala original).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5074920"/>
          <a:ext cx="1120140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  <a:gridCol w="3200400"/>
                <a:gridCol w="25146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Estación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Orden (p,d,q)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Estacional (P,D,Q,s)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Transformación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NE3 – Pesquería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(2, 1, 0)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(0, 1, 1, 24)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Yeo-Johnson λ = −0.10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NO2 – García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(2, 0, 2)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(0, 1, 1, 24)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Yeo-Johnson λ = 0.01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SE3 – Cadereyta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(2, 0, 2)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(0, 1, 1, 24)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Yeo-Johnson λ = −0.47</a:t>
                      </a:r>
                    </a:p>
                  </a:txBody>
                  <a:tcPr marL="73152" marR="73152" marT="18288" marB="18288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Resultados: precisión en el corto plazo (holdout 7 horas)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Validación fuera de muestra</a:t>
            </a:r>
          </a:p>
        </p:txBody>
      </p:sp>
      <p:pic>
        <p:nvPicPr>
          <p:cNvPr id="6" name="Picture 5" descr="metricas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8686"/>
            <a:ext cx="7680960" cy="43292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371600"/>
            <a:ext cx="3246120" cy="44805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5544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Lectura ejecutiva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965960"/>
            <a:ext cx="27889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NO2: MAPE 18.1% → modelo más estable de la red.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NE3: MAPE alto por su bajo nivel (media ~40 µg/m³), no por error absoluto (MAE 11.4 µg/m³).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SE3 (zona industrial): mayor incertidumbre; los episodios extremos dominan el RMSE.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El modelo sigue la dinámica real de cada estación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Pronóstico (7 h) vs valor real · línea de regresión y referencia y = x</a:t>
            </a:r>
          </a:p>
        </p:txBody>
      </p:sp>
      <p:pic>
        <p:nvPicPr>
          <p:cNvPr id="6" name="Picture 5" descr="regresion_N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96934"/>
            <a:ext cx="3749039" cy="16067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61188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NE3 – Pesquería</a:t>
            </a:r>
          </a:p>
        </p:txBody>
      </p:sp>
      <p:pic>
        <p:nvPicPr>
          <p:cNvPr id="8" name="Picture 7" descr="regresion_N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7" y="1596934"/>
            <a:ext cx="3749039" cy="16067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70247" y="361188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NO2 – García</a:t>
            </a:r>
          </a:p>
        </p:txBody>
      </p:sp>
      <p:pic>
        <p:nvPicPr>
          <p:cNvPr id="10" name="Picture 9" descr="regresion_S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4" y="1596934"/>
            <a:ext cx="3749039" cy="16067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29014" y="361188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SE3 – Cadereyta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11201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Los tres modelos capturan la tendencia y el ciclo diario; la dispersión crece con la magnitud del PM10.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Peso de cada factor (betas significativas, p &lt; 0.05): SE3 y NE3 responden a combustión y fotoquímico; NO2 pierde significancia de sus regresores en escala horaria → señal más ruidosa.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Validación de supuestos y límites del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CCEE8"/>
                </a:solidFill>
                <a:latin typeface="Calibri"/>
              </a:rPr>
              <a:t>Lo que los residuos revelan</a:t>
            </a:r>
          </a:p>
        </p:txBody>
      </p:sp>
      <p:pic>
        <p:nvPicPr>
          <p:cNvPr id="6" name="Picture 5" descr="residuales_N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6529"/>
            <a:ext cx="6492240" cy="41735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69480" y="128016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Residuales NO2 con bandas de confianza (95% y 99%)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691640"/>
            <a:ext cx="44805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Media ≈ 0 y autocorrelación adecuada en NO2 (Ljung-Box no rechaza).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0000"/>
                </a:solidFill>
                <a:latin typeface="Calibri"/>
              </a:rPr>
              <a:t>•  Residuos leptocúrticos (curtosis &gt; 10): el modelo subestima los episodios extremos.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Heterocedasticidad temporal: la varianza crece en eventos de alta concentración.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NE3 conserva autocorrelación remanente (Ljung-Box rechaza) — señal para revisar la especificación.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¿Respondimos la pregunta? Conclusiones y siguiente fase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  <a:latin typeface="Calibri"/>
              </a:rPr>
              <a:t>Respuesta: sí, con matices operativos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La Mahalanobis aisló 3 estaciones contrastantes (19.98) que cubren la diversidad de la ZMM.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El AFE resolvió la multicolinealidad y dio factores interpretables.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El SARIMAX horario es útil para alerta temprana: NO2 con MAPE 18.1% y NE3 con MAE 11.4 µg/m³.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Los pesos de los factores (combustión, fotoquímico, humedad) son interpretables y significativos en dos de tres estaciones.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Puntos débiles detectados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Los errores crecen en eventos extremos (SE3 RMSE 120.7 µg/m³); los residuos siguen leptocúrticos y heterocedásticos.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NE3 MAPE difícil de interpretar por su nivel bajo de PM10.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NO2: regresores no significativos en escala horaria.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•  La meteorología fija el límite de horizonte útil (~2 semanas).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92040"/>
            <a:ext cx="11201400" cy="12344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8860B"/>
                </a:solidFill>
                <a:latin typeface="Calibri"/>
              </a:rPr>
              <a:t>Siguiente fase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Enfocar el modelado de eventos extremos: umbrales/transformaciones, algoritmos no lineales (XGBoost, redes) y ensambles; convertir la predicción en alertas de contingencia.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SIMA · MA2003B Análisis Multivariado · PM10 en la ZMM de Monterrey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